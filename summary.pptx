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2"/>
  </p:notesMasterIdLst>
  <p:sldIdLst>
    <p:sldId id="256" r:id="rId2"/>
    <p:sldId id="261" r:id="rId3"/>
    <p:sldId id="259" r:id="rId4"/>
    <p:sldId id="296" r:id="rId5"/>
    <p:sldId id="298" r:id="rId6"/>
    <p:sldId id="299" r:id="rId7"/>
    <p:sldId id="300" r:id="rId8"/>
    <p:sldId id="301" r:id="rId9"/>
    <p:sldId id="302" r:id="rId10"/>
    <p:sldId id="304" r:id="rId11"/>
  </p:sldIdLst>
  <p:sldSz cx="9144000" cy="5143500" type="screen16x9"/>
  <p:notesSz cx="6858000" cy="9144000"/>
  <p:embeddedFontLst>
    <p:embeddedFont>
      <p:font typeface="Actor" panose="020B0604020202020204" charset="0"/>
      <p:regular r:id="rId13"/>
    </p:embeddedFont>
    <p:embeddedFont>
      <p:font typeface="Aldrich" panose="020B0604020202020204" charset="0"/>
      <p:regular r:id="rId14"/>
    </p:embeddedFont>
    <p:embeddedFont>
      <p:font typeface="Nunito Light" pitchFamily="2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80C14F-EB44-428A-959C-122C530C0DAC}">
  <a:tblStyle styleId="{3C80C14F-EB44-428A-959C-122C530C0D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0044D8-F467-49AA-80C2-F253078418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458" autoAdjust="0"/>
  </p:normalViewPr>
  <p:slideViewPr>
    <p:cSldViewPr snapToGrid="0">
      <p:cViewPr varScale="1">
        <p:scale>
          <a:sx n="77" d="100"/>
          <a:sy n="77" d="100"/>
        </p:scale>
        <p:origin x="16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56D1168E-11AC-F7E4-2AA7-CAFBAA5B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4dda1946d_6_322:notes">
            <a:extLst>
              <a:ext uri="{FF2B5EF4-FFF2-40B4-BE49-F238E27FC236}">
                <a16:creationId xmlns:a16="http://schemas.microsoft.com/office/drawing/2014/main" id="{5957A73C-68E7-88BF-7FDE-0A825483DE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4dda1946d_6_322:notes">
            <a:extLst>
              <a:ext uri="{FF2B5EF4-FFF2-40B4-BE49-F238E27FC236}">
                <a16:creationId xmlns:a16="http://schemas.microsoft.com/office/drawing/2014/main" id="{92747239-B9D0-5CEE-DCF2-4BD748939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961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C03612F9-0CB4-C273-1BB3-92AE798B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4dda1946d_6_322:notes">
            <a:extLst>
              <a:ext uri="{FF2B5EF4-FFF2-40B4-BE49-F238E27FC236}">
                <a16:creationId xmlns:a16="http://schemas.microsoft.com/office/drawing/2014/main" id="{C426AD04-9F33-C5E3-15E4-DD716D5D4B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4dda1946d_6_322:notes">
            <a:extLst>
              <a:ext uri="{FF2B5EF4-FFF2-40B4-BE49-F238E27FC236}">
                <a16:creationId xmlns:a16="http://schemas.microsoft.com/office/drawing/2014/main" id="{397CE82E-6767-C707-6DFA-FDFBF0479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5228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3C7FB506-14A1-BFD9-FA80-7B210531F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4dda1946d_6_322:notes">
            <a:extLst>
              <a:ext uri="{FF2B5EF4-FFF2-40B4-BE49-F238E27FC236}">
                <a16:creationId xmlns:a16="http://schemas.microsoft.com/office/drawing/2014/main" id="{FC95E51B-B1EC-87F9-342D-27F0FEDBD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4dda1946d_6_322:notes">
            <a:extLst>
              <a:ext uri="{FF2B5EF4-FFF2-40B4-BE49-F238E27FC236}">
                <a16:creationId xmlns:a16="http://schemas.microsoft.com/office/drawing/2014/main" id="{7B09C0CA-84F2-6EB9-3F81-05FDDB11B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8423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FBD3286D-30CE-81ED-72D6-1808C078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4dda1946d_6_322:notes">
            <a:extLst>
              <a:ext uri="{FF2B5EF4-FFF2-40B4-BE49-F238E27FC236}">
                <a16:creationId xmlns:a16="http://schemas.microsoft.com/office/drawing/2014/main" id="{BA782955-3613-3AF4-662E-4093967AFF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4dda1946d_6_322:notes">
            <a:extLst>
              <a:ext uri="{FF2B5EF4-FFF2-40B4-BE49-F238E27FC236}">
                <a16:creationId xmlns:a16="http://schemas.microsoft.com/office/drawing/2014/main" id="{4131FDDD-6FF7-605C-CC2F-658FFAA3F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541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F92A7F21-6358-EE2C-654A-0D842A67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4dda1946d_6_322:notes">
            <a:extLst>
              <a:ext uri="{FF2B5EF4-FFF2-40B4-BE49-F238E27FC236}">
                <a16:creationId xmlns:a16="http://schemas.microsoft.com/office/drawing/2014/main" id="{35764BC7-5F7F-08F8-2CB8-F296C406B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4dda1946d_6_322:notes">
            <a:extLst>
              <a:ext uri="{FF2B5EF4-FFF2-40B4-BE49-F238E27FC236}">
                <a16:creationId xmlns:a16="http://schemas.microsoft.com/office/drawing/2014/main" id="{3B2AE478-286C-E700-E2BF-347E0D74A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4652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CAFC6F2B-1CDF-FD1E-42F9-36F3091B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4dda1946d_6_322:notes">
            <a:extLst>
              <a:ext uri="{FF2B5EF4-FFF2-40B4-BE49-F238E27FC236}">
                <a16:creationId xmlns:a16="http://schemas.microsoft.com/office/drawing/2014/main" id="{D603170F-4B4A-572F-6856-EE5D3B658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4dda1946d_6_322:notes">
            <a:extLst>
              <a:ext uri="{FF2B5EF4-FFF2-40B4-BE49-F238E27FC236}">
                <a16:creationId xmlns:a16="http://schemas.microsoft.com/office/drawing/2014/main" id="{12BD4DFB-EAD5-2D6C-A6F5-C48E5C5DA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8691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C5D0F2E8-F2BA-F91C-936F-2DED2C80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4dda1946d_6_322:notes">
            <a:extLst>
              <a:ext uri="{FF2B5EF4-FFF2-40B4-BE49-F238E27FC236}">
                <a16:creationId xmlns:a16="http://schemas.microsoft.com/office/drawing/2014/main" id="{F17231E2-DFD6-E84E-F204-084B04970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4dda1946d_6_322:notes">
            <a:extLst>
              <a:ext uri="{FF2B5EF4-FFF2-40B4-BE49-F238E27FC236}">
                <a16:creationId xmlns:a16="http://schemas.microsoft.com/office/drawing/2014/main" id="{0BC32CB5-D816-E9F5-A018-57A5C02062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079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4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28.png"/><Relationship Id="rId5" Type="http://schemas.openxmlformats.org/officeDocument/2006/relationships/image" Target="../media/image26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0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000250" y="200025"/>
            <a:ext cx="51435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0" y="3750525"/>
            <a:ext cx="3172550" cy="139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-1"/>
            <a:ext cx="2723654" cy="11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607281" y="1620425"/>
            <a:ext cx="192958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5607456" y="-1606375"/>
            <a:ext cx="192958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190875" y="2253011"/>
            <a:ext cx="2714424" cy="1191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>
            <a:off x="-11" y="-6987"/>
            <a:ext cx="9144011" cy="5163963"/>
            <a:chOff x="-11" y="-6987"/>
            <a:chExt cx="9144011" cy="5163963"/>
          </a:xfrm>
        </p:grpSpPr>
        <p:pic>
          <p:nvPicPr>
            <p:cNvPr id="17" name="Google Shape;17;p2"/>
            <p:cNvPicPr preferRelativeResize="0"/>
            <p:nvPr/>
          </p:nvPicPr>
          <p:blipFill rotWithShape="1">
            <a:blip r:embed="rId6">
              <a:alphaModFix/>
            </a:blip>
            <a:srcRect l="12982"/>
            <a:stretch/>
          </p:blipFill>
          <p:spPr>
            <a:xfrm>
              <a:off x="0" y="4151300"/>
              <a:ext cx="2523200" cy="99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690900" y="-6987"/>
              <a:ext cx="4410075" cy="116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 rotWithShape="1">
            <a:blip r:embed="rId8">
              <a:alphaModFix/>
            </a:blip>
            <a:srcRect t="5267"/>
            <a:stretch/>
          </p:blipFill>
          <p:spPr>
            <a:xfrm flipH="1">
              <a:off x="7995000" y="0"/>
              <a:ext cx="1149000" cy="436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10800000">
              <a:off x="5299200" y="4398325"/>
              <a:ext cx="3169300" cy="75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-11" y="1076017"/>
              <a:ext cx="1016871" cy="40674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877025" y="1457863"/>
            <a:ext cx="5390100" cy="181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2597250" y="3302988"/>
            <a:ext cx="3949500" cy="445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>
            <a:off x="719999" y="6600"/>
            <a:ext cx="3861151" cy="15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954424" y="3626375"/>
            <a:ext cx="3861151" cy="15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633" y="383476"/>
            <a:ext cx="1476365" cy="391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5400000">
            <a:off x="6970125" y="2969625"/>
            <a:ext cx="3125401" cy="1222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5"/>
          <p:cNvGrpSpPr/>
          <p:nvPr/>
        </p:nvGrpSpPr>
        <p:grpSpPr>
          <a:xfrm>
            <a:off x="-8775" y="-10225"/>
            <a:ext cx="9152775" cy="5153725"/>
            <a:chOff x="-8775" y="-10225"/>
            <a:chExt cx="9152775" cy="5153725"/>
          </a:xfrm>
        </p:grpSpPr>
        <p:pic>
          <p:nvPicPr>
            <p:cNvPr id="60" name="Google Shape;60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00000" y="4263325"/>
              <a:ext cx="2571799" cy="873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5"/>
            <p:cNvPicPr preferRelativeResize="0"/>
            <p:nvPr/>
          </p:nvPicPr>
          <p:blipFill rotWithShape="1">
            <a:blip r:embed="rId6">
              <a:alphaModFix/>
            </a:blip>
            <a:srcRect t="10730" r="30512"/>
            <a:stretch/>
          </p:blipFill>
          <p:spPr>
            <a:xfrm rot="-5400000">
              <a:off x="7248962" y="3248463"/>
              <a:ext cx="1309250" cy="24808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" name="Google Shape;62;p5"/>
            <p:cNvGrpSpPr/>
            <p:nvPr/>
          </p:nvGrpSpPr>
          <p:grpSpPr>
            <a:xfrm>
              <a:off x="-8775" y="-10225"/>
              <a:ext cx="2517750" cy="2859149"/>
              <a:chOff x="-8775" y="-10225"/>
              <a:chExt cx="2517750" cy="2859149"/>
            </a:xfrm>
          </p:grpSpPr>
          <p:pic>
            <p:nvPicPr>
              <p:cNvPr id="63" name="Google Shape;63;p5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-5400000" flipH="1">
                <a:off x="861363" y="-863188"/>
                <a:ext cx="786250" cy="2508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" name="Google Shape;64;p5"/>
              <p:cNvPicPr preferRelativeResize="0"/>
              <p:nvPr/>
            </p:nvPicPr>
            <p:blipFill rotWithShape="1">
              <a:blip r:embed="rId8">
                <a:alphaModFix/>
              </a:blip>
              <a:srcRect b="27336"/>
              <a:stretch/>
            </p:blipFill>
            <p:spPr>
              <a:xfrm>
                <a:off x="-8775" y="-10225"/>
                <a:ext cx="713225" cy="28591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5" name="Google Shape;65;p5"/>
            <p:cNvPicPr preferRelativeResize="0"/>
            <p:nvPr/>
          </p:nvPicPr>
          <p:blipFill rotWithShape="1">
            <a:blip r:embed="rId9">
              <a:alphaModFix/>
            </a:blip>
            <a:srcRect r="52765"/>
            <a:stretch/>
          </p:blipFill>
          <p:spPr>
            <a:xfrm rot="-5400000">
              <a:off x="606237" y="3311212"/>
              <a:ext cx="1219000" cy="243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5"/>
            <p:cNvPicPr preferRelativeResize="0"/>
            <p:nvPr/>
          </p:nvPicPr>
          <p:blipFill rotWithShape="1">
            <a:blip r:embed="rId9">
              <a:alphaModFix/>
            </a:blip>
            <a:srcRect r="49140" b="39098"/>
            <a:stretch/>
          </p:blipFill>
          <p:spPr>
            <a:xfrm flipH="1">
              <a:off x="8103550" y="0"/>
              <a:ext cx="1040450" cy="117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subTitle" idx="1"/>
          </p:nvPr>
        </p:nvSpPr>
        <p:spPr>
          <a:xfrm>
            <a:off x="4923137" y="2308475"/>
            <a:ext cx="25056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ubTitle" idx="2"/>
          </p:nvPr>
        </p:nvSpPr>
        <p:spPr>
          <a:xfrm>
            <a:off x="1715263" y="2308475"/>
            <a:ext cx="25056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3"/>
          </p:nvPr>
        </p:nvSpPr>
        <p:spPr>
          <a:xfrm>
            <a:off x="1715263" y="1929279"/>
            <a:ext cx="25056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4"/>
          </p:nvPr>
        </p:nvSpPr>
        <p:spPr>
          <a:xfrm>
            <a:off x="4923138" y="1929279"/>
            <a:ext cx="25056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>
            <a:off x="4571999" y="3163"/>
            <a:ext cx="2742676" cy="107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352525" y="3916075"/>
            <a:ext cx="3125401" cy="12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-5400000">
            <a:off x="-2263283" y="2044350"/>
            <a:ext cx="5153025" cy="638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7"/>
          <p:cNvGrpSpPr/>
          <p:nvPr/>
        </p:nvGrpSpPr>
        <p:grpSpPr>
          <a:xfrm rot="10800000">
            <a:off x="8347726" y="2222187"/>
            <a:ext cx="632640" cy="1253501"/>
            <a:chOff x="-3572487" y="2483988"/>
            <a:chExt cx="1284288" cy="2544663"/>
          </a:xfrm>
        </p:grpSpPr>
        <p:sp>
          <p:nvSpPr>
            <p:cNvPr id="87" name="Google Shape;87;p7"/>
            <p:cNvSpPr/>
            <p:nvPr/>
          </p:nvSpPr>
          <p:spPr>
            <a:xfrm>
              <a:off x="-3572487" y="24839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-3572487" y="33332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-3572487" y="417933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7"/>
          <p:cNvGrpSpPr/>
          <p:nvPr/>
        </p:nvGrpSpPr>
        <p:grpSpPr>
          <a:xfrm>
            <a:off x="-2" y="0"/>
            <a:ext cx="9144001" cy="5143500"/>
            <a:chOff x="-2" y="0"/>
            <a:chExt cx="9144001" cy="5143500"/>
          </a:xfrm>
        </p:grpSpPr>
        <p:pic>
          <p:nvPicPr>
            <p:cNvPr id="91" name="Google Shape;91;p7"/>
            <p:cNvPicPr preferRelativeResize="0"/>
            <p:nvPr/>
          </p:nvPicPr>
          <p:blipFill rotWithShape="1">
            <a:blip r:embed="rId5">
              <a:alphaModFix/>
            </a:blip>
            <a:srcRect r="31436"/>
            <a:stretch/>
          </p:blipFill>
          <p:spPr>
            <a:xfrm>
              <a:off x="-2" y="2845200"/>
              <a:ext cx="1068375" cy="229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7"/>
            <p:cNvPicPr preferRelativeResize="0"/>
            <p:nvPr/>
          </p:nvPicPr>
          <p:blipFill rotWithShape="1">
            <a:blip r:embed="rId6">
              <a:alphaModFix/>
            </a:blip>
            <a:srcRect l="43936"/>
            <a:stretch/>
          </p:blipFill>
          <p:spPr>
            <a:xfrm rot="-5400000">
              <a:off x="1161787" y="-1161788"/>
              <a:ext cx="745000" cy="3068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6572200" y="4265300"/>
              <a:ext cx="2571799" cy="873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7"/>
            <p:cNvPicPr preferRelativeResize="0"/>
            <p:nvPr/>
          </p:nvPicPr>
          <p:blipFill rotWithShape="1">
            <a:blip r:embed="rId8">
              <a:alphaModFix/>
            </a:blip>
            <a:srcRect t="57461"/>
            <a:stretch/>
          </p:blipFill>
          <p:spPr>
            <a:xfrm>
              <a:off x="7920049" y="3628650"/>
              <a:ext cx="1223950" cy="15148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7"/>
          <p:cNvSpPr txBox="1">
            <a:spLocks noGrp="1"/>
          </p:cNvSpPr>
          <p:nvPr>
            <p:ph type="title"/>
          </p:nvPr>
        </p:nvSpPr>
        <p:spPr>
          <a:xfrm>
            <a:off x="713225" y="1064975"/>
            <a:ext cx="44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subTitle" idx="1"/>
          </p:nvPr>
        </p:nvSpPr>
        <p:spPr>
          <a:xfrm>
            <a:off x="713225" y="1780225"/>
            <a:ext cx="4404000" cy="21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7"/>
          <p:cNvSpPr>
            <a:spLocks noGrp="1"/>
          </p:cNvSpPr>
          <p:nvPr>
            <p:ph type="pic" idx="2"/>
          </p:nvPr>
        </p:nvSpPr>
        <p:spPr>
          <a:xfrm>
            <a:off x="5338975" y="672750"/>
            <a:ext cx="2787000" cy="37980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385785" y="2311757"/>
            <a:ext cx="2443550" cy="10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685340" y="1709485"/>
            <a:ext cx="2443550" cy="10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41077" y="0"/>
            <a:ext cx="2992723" cy="131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8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00250" y="200025"/>
            <a:ext cx="51435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8"/>
          <p:cNvPicPr preferRelativeResize="0"/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 rot="-5400000" flipH="1">
            <a:off x="2140356" y="-1606375"/>
            <a:ext cx="192958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8"/>
          <p:cNvPicPr preferRelativeResize="0"/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-5400000">
            <a:off x="4423467" y="1631925"/>
            <a:ext cx="1879667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07" name="Google Shape;107;p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5400000">
              <a:off x="977587" y="2947312"/>
              <a:ext cx="1218600" cy="317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7305225" y="2431475"/>
              <a:ext cx="1838775" cy="2712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" y="1"/>
              <a:ext cx="2820775" cy="23730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" name="Google Shape;110;p8"/>
            <p:cNvGrpSpPr/>
            <p:nvPr/>
          </p:nvGrpSpPr>
          <p:grpSpPr>
            <a:xfrm>
              <a:off x="6374425" y="0"/>
              <a:ext cx="2769575" cy="1611925"/>
              <a:chOff x="6374425" y="0"/>
              <a:chExt cx="2769575" cy="1611925"/>
            </a:xfrm>
          </p:grpSpPr>
          <p:pic>
            <p:nvPicPr>
              <p:cNvPr id="111" name="Google Shape;111;p8"/>
              <p:cNvPicPr preferRelativeResize="0"/>
              <p:nvPr/>
            </p:nvPicPr>
            <p:blipFill rotWithShape="1">
              <a:blip r:embed="rId10">
                <a:alphaModFix/>
              </a:blip>
              <a:srcRect l="49857" b="16590"/>
              <a:stretch/>
            </p:blipFill>
            <p:spPr>
              <a:xfrm>
                <a:off x="8103650" y="0"/>
                <a:ext cx="1040351" cy="16119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" name="Google Shape;112;p8"/>
              <p:cNvPicPr preferRelativeResize="0"/>
              <p:nvPr/>
            </p:nvPicPr>
            <p:blipFill rotWithShape="1">
              <a:blip r:embed="rId11">
                <a:alphaModFix/>
              </a:blip>
              <a:srcRect t="38664" b="15114"/>
              <a:stretch/>
            </p:blipFill>
            <p:spPr>
              <a:xfrm rot="10800000" flipH="1">
                <a:off x="6374425" y="0"/>
                <a:ext cx="2769575" cy="3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3" name="Google Shape;11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189300" y="-935875"/>
            <a:ext cx="1316900" cy="31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1450725"/>
            <a:ext cx="1316900" cy="31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00250" y="200025"/>
            <a:ext cx="51435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9"/>
          <p:cNvPicPr preferRelativeResize="0"/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5400000">
            <a:off x="1765537" y="-1765538"/>
            <a:ext cx="2056500" cy="55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2918456" y="1606950"/>
            <a:ext cx="1929588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9"/>
          <p:cNvGrpSpPr/>
          <p:nvPr/>
        </p:nvGrpSpPr>
        <p:grpSpPr>
          <a:xfrm>
            <a:off x="-2" y="-1"/>
            <a:ext cx="9144003" cy="5143501"/>
            <a:chOff x="-2" y="-1"/>
            <a:chExt cx="9144003" cy="5143501"/>
          </a:xfrm>
        </p:grpSpPr>
        <p:pic>
          <p:nvPicPr>
            <p:cNvPr id="122" name="Google Shape;122;p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 flipH="1">
              <a:off x="0" y="-1"/>
              <a:ext cx="1927475" cy="2842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9"/>
            <p:cNvPicPr preferRelativeResize="0"/>
            <p:nvPr/>
          </p:nvPicPr>
          <p:blipFill rotWithShape="1">
            <a:blip r:embed="rId8">
              <a:alphaModFix/>
            </a:blip>
            <a:srcRect l="47608" b="18752"/>
            <a:stretch/>
          </p:blipFill>
          <p:spPr>
            <a:xfrm rot="10800000" flipH="1">
              <a:off x="8301401" y="3926426"/>
              <a:ext cx="842600" cy="1217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9"/>
            <p:cNvPicPr preferRelativeResize="0"/>
            <p:nvPr/>
          </p:nvPicPr>
          <p:blipFill rotWithShape="1">
            <a:blip r:embed="rId9">
              <a:alphaModFix/>
            </a:blip>
            <a:srcRect l="24545" t="8206"/>
            <a:stretch/>
          </p:blipFill>
          <p:spPr>
            <a:xfrm rot="5400000" flipH="1">
              <a:off x="7066813" y="-1534987"/>
              <a:ext cx="534875" cy="36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9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737226" y="0"/>
              <a:ext cx="1406775" cy="324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9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 rot="-5400000">
              <a:off x="444498" y="2686548"/>
              <a:ext cx="2012450" cy="290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9"/>
            <p:cNvPicPr preferRelativeResize="0"/>
            <p:nvPr/>
          </p:nvPicPr>
          <p:blipFill rotWithShape="1">
            <a:blip r:embed="rId12">
              <a:alphaModFix/>
            </a:blip>
            <a:srcRect r="44379"/>
            <a:stretch/>
          </p:blipFill>
          <p:spPr>
            <a:xfrm rot="-5400000">
              <a:off x="6931263" y="2930761"/>
              <a:ext cx="534875" cy="389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9"/>
          <p:cNvSpPr txBox="1">
            <a:spLocks noGrp="1"/>
          </p:cNvSpPr>
          <p:nvPr>
            <p:ph type="title"/>
          </p:nvPr>
        </p:nvSpPr>
        <p:spPr>
          <a:xfrm>
            <a:off x="2135550" y="125205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subTitle" idx="1"/>
          </p:nvPr>
        </p:nvSpPr>
        <p:spPr>
          <a:xfrm>
            <a:off x="2135550" y="3368850"/>
            <a:ext cx="4872900" cy="5226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720000" y="40313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dk2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737100" y="737100"/>
            <a:ext cx="2628175" cy="11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656375" y="3612175"/>
            <a:ext cx="3487625" cy="15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0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0"/>
          <p:cNvGrpSpPr/>
          <p:nvPr/>
        </p:nvGrpSpPr>
        <p:grpSpPr>
          <a:xfrm>
            <a:off x="0" y="0"/>
            <a:ext cx="2220050" cy="5143499"/>
            <a:chOff x="0" y="0"/>
            <a:chExt cx="2220050" cy="5143499"/>
          </a:xfrm>
        </p:grpSpPr>
        <p:pic>
          <p:nvPicPr>
            <p:cNvPr id="302" name="Google Shape;302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2257920"/>
              <a:ext cx="713225" cy="28855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20"/>
            <p:cNvPicPr preferRelativeResize="0"/>
            <p:nvPr/>
          </p:nvPicPr>
          <p:blipFill rotWithShape="1">
            <a:blip r:embed="rId5">
              <a:alphaModFix/>
            </a:blip>
            <a:srcRect r="17287" b="34452"/>
            <a:stretch/>
          </p:blipFill>
          <p:spPr>
            <a:xfrm>
              <a:off x="0" y="0"/>
              <a:ext cx="2220050" cy="1480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4" name="Google Shape;3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1606956" y="1606950"/>
            <a:ext cx="192958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56375" y="0"/>
            <a:ext cx="3487625" cy="15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072331" y="1606950"/>
            <a:ext cx="1929588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21"/>
          <p:cNvGrpSpPr/>
          <p:nvPr/>
        </p:nvGrpSpPr>
        <p:grpSpPr>
          <a:xfrm>
            <a:off x="-304788" y="-12"/>
            <a:ext cx="3626826" cy="5143512"/>
            <a:chOff x="-304788" y="-12"/>
            <a:chExt cx="3626826" cy="5143512"/>
          </a:xfrm>
        </p:grpSpPr>
        <p:pic>
          <p:nvPicPr>
            <p:cNvPr id="310" name="Google Shape;310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 flipH="1">
              <a:off x="929250" y="-1234050"/>
              <a:ext cx="1158750" cy="36268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-5" y="3806225"/>
              <a:ext cx="2916125" cy="133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1128350"/>
              <a:ext cx="992400" cy="4015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3" name="Google Shape;313;p21"/>
          <p:cNvPicPr preferRelativeResize="0"/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7204391" y="0"/>
            <a:ext cx="19396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6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1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4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ar parked in front of a house&#10;&#10;Description automatically generated">
            <a:extLst>
              <a:ext uri="{FF2B5EF4-FFF2-40B4-BE49-F238E27FC236}">
                <a16:creationId xmlns:a16="http://schemas.microsoft.com/office/drawing/2014/main" id="{2D934C5A-A211-5260-629F-CDAFFE437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489" y="2287068"/>
            <a:ext cx="4533036" cy="2610865"/>
          </a:xfrm>
          <a:prstGeom prst="rect">
            <a:avLst/>
          </a:prstGeom>
        </p:spPr>
      </p:pic>
      <p:grpSp>
        <p:nvGrpSpPr>
          <p:cNvPr id="324" name="Google Shape;324;p25"/>
          <p:cNvGrpSpPr/>
          <p:nvPr/>
        </p:nvGrpSpPr>
        <p:grpSpPr>
          <a:xfrm>
            <a:off x="6655696" y="734867"/>
            <a:ext cx="1632625" cy="461018"/>
            <a:chOff x="-2385729" y="3580104"/>
            <a:chExt cx="1632625" cy="461018"/>
          </a:xfrm>
        </p:grpSpPr>
        <p:sp>
          <p:nvSpPr>
            <p:cNvPr id="325" name="Google Shape;325;p25"/>
            <p:cNvSpPr/>
            <p:nvPr/>
          </p:nvSpPr>
          <p:spPr>
            <a:xfrm rot="5400000">
              <a:off x="-1215900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5"/>
            <p:cNvSpPr/>
            <p:nvPr/>
          </p:nvSpPr>
          <p:spPr>
            <a:xfrm rot="5400000">
              <a:off x="-1799925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 rot="5400000">
              <a:off x="-2383950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25"/>
          <p:cNvGrpSpPr/>
          <p:nvPr/>
        </p:nvGrpSpPr>
        <p:grpSpPr>
          <a:xfrm rot="10800000">
            <a:off x="713226" y="3054737"/>
            <a:ext cx="632640" cy="1253501"/>
            <a:chOff x="-3572487" y="2483988"/>
            <a:chExt cx="1284288" cy="2544663"/>
          </a:xfrm>
        </p:grpSpPr>
        <p:sp>
          <p:nvSpPr>
            <p:cNvPr id="329" name="Google Shape;329;p25"/>
            <p:cNvSpPr/>
            <p:nvPr/>
          </p:nvSpPr>
          <p:spPr>
            <a:xfrm>
              <a:off x="-3572487" y="24839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-3572487" y="33332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-3572487" y="417933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25"/>
          <p:cNvSpPr txBox="1">
            <a:spLocks noGrp="1"/>
          </p:cNvSpPr>
          <p:nvPr>
            <p:ph type="ctrTitle"/>
          </p:nvPr>
        </p:nvSpPr>
        <p:spPr>
          <a:xfrm>
            <a:off x="201172" y="601430"/>
            <a:ext cx="5904354" cy="8516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rgbClr val="FFC000"/>
                </a:solidFill>
              </a:rPr>
              <a:t>BasketVR Toss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9A046D-547E-98E6-FA82-479390B98A79}"/>
              </a:ext>
            </a:extLst>
          </p:cNvPr>
          <p:cNvSpPr txBox="1"/>
          <p:nvPr/>
        </p:nvSpPr>
        <p:spPr>
          <a:xfrm>
            <a:off x="593956" y="1279544"/>
            <a:ext cx="4492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ctor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ctor"/>
                <a:sym typeface="Actor"/>
              </a:rPr>
              <a:t>A Casual VR Experience for Relaxation and Fun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B119A-9DAF-ECFF-453F-0870F3C4A51A}"/>
              </a:ext>
            </a:extLst>
          </p:cNvPr>
          <p:cNvSpPr txBox="1"/>
          <p:nvPr/>
        </p:nvSpPr>
        <p:spPr>
          <a:xfrm>
            <a:off x="490341" y="2501179"/>
            <a:ext cx="4081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ctor"/>
              <a:buNone/>
              <a:tabLst/>
              <a:defRPr/>
            </a:pPr>
            <a:r>
              <a:rPr kumimoji="0" lang="en-US" sz="1600" i="0" u="none" strike="noStrike" kern="0" normalizeH="0" baseline="0" noProof="0" dirty="0">
                <a:solidFill>
                  <a:srgbClr val="FFFFFF"/>
                </a:solidFill>
                <a:uLnTx/>
                <a:uFillTx/>
                <a:latin typeface="Actor"/>
                <a:sym typeface="Actor"/>
              </a:rPr>
              <a:t>Created By: </a:t>
            </a:r>
            <a:r>
              <a:rPr kumimoji="0" lang="en-US" sz="1600" i="0" u="none" strike="noStrike" kern="0" normalizeH="0" baseline="0" noProof="0" dirty="0">
                <a:solidFill>
                  <a:schemeClr val="accent2">
                    <a:lumMod val="40000"/>
                    <a:lumOff val="60000"/>
                  </a:schemeClr>
                </a:solidFill>
                <a:uLnTx/>
                <a:uFillTx/>
                <a:latin typeface="Actor"/>
                <a:sym typeface="Actor"/>
              </a:rPr>
              <a:t>Pouria Abtahi</a:t>
            </a:r>
            <a:endParaRPr kumimoji="0" lang="en-US" i="0" u="none" strike="noStrike" kern="0" normalizeH="0" baseline="0" noProof="0" dirty="0">
              <a:solidFill>
                <a:schemeClr val="accent1">
                  <a:lumMod val="20000"/>
                  <a:lumOff val="80000"/>
                </a:schemeClr>
              </a:solidFill>
              <a:uLnTx/>
              <a:uFillTx/>
              <a:latin typeface="Actor"/>
              <a:sym typeface="Actor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ctor"/>
              <a:buNone/>
              <a:tabLst/>
              <a:defRPr/>
            </a:pPr>
            <a:r>
              <a:rPr lang="en-US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Actor"/>
                <a:sym typeface="Actor"/>
              </a:rPr>
              <a:t>                       </a:t>
            </a:r>
            <a:endParaRPr kumimoji="0" lang="en-US" sz="1600" i="0" u="none" strike="noStrike" kern="0" normalizeH="0" baseline="0" noProof="0" dirty="0">
              <a:solidFill>
                <a:schemeClr val="accent2">
                  <a:lumMod val="40000"/>
                  <a:lumOff val="60000"/>
                </a:schemeClr>
              </a:solidFill>
              <a:uLnTx/>
              <a:uFillTx/>
              <a:latin typeface="Actor"/>
              <a:sym typeface="Acto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9EFDE-CBBA-03E5-9F52-3C4956F4240A}"/>
              </a:ext>
            </a:extLst>
          </p:cNvPr>
          <p:cNvSpPr txBox="1"/>
          <p:nvPr/>
        </p:nvSpPr>
        <p:spPr>
          <a:xfrm>
            <a:off x="1146880" y="2785332"/>
            <a:ext cx="3648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ctor"/>
              <a:buNone/>
              <a:tabLst/>
              <a:defRPr/>
            </a:pPr>
            <a:r>
              <a:rPr kumimoji="0" lang="en-US" sz="1200" i="0" u="none" strike="noStrike" kern="0" normalizeH="0" baseline="0" noProof="0" dirty="0">
                <a:solidFill>
                  <a:srgbClr val="FFFFFF"/>
                </a:solidFill>
                <a:uLnTx/>
                <a:uFillTx/>
                <a:latin typeface="Actor"/>
                <a:sym typeface="Actor"/>
              </a:rPr>
              <a:t>Role:</a:t>
            </a:r>
            <a:r>
              <a:rPr kumimoji="0" lang="en-US" i="0" u="none" strike="noStrike" kern="0" normalizeH="0" baseline="0" noProof="0" dirty="0">
                <a:solidFill>
                  <a:srgbClr val="FFFFFF"/>
                </a:solidFill>
                <a:uLnTx/>
                <a:uFillTx/>
                <a:latin typeface="Actor"/>
                <a:sym typeface="Actor"/>
              </a:rPr>
              <a:t> </a:t>
            </a:r>
            <a:r>
              <a:rPr kumimoji="0" lang="en-US" sz="1200" i="0" u="none" strike="noStrike" kern="0" normalizeH="0" baseline="0" noProof="0" dirty="0">
                <a:solidFill>
                  <a:srgbClr val="00B0F0"/>
                </a:solidFill>
                <a:uLnTx/>
                <a:uFillTx/>
                <a:latin typeface="Actor"/>
                <a:sym typeface="Actor"/>
              </a:rPr>
              <a:t>Game Designer and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"/>
          <p:cNvSpPr txBox="1">
            <a:spLocks noGrp="1"/>
          </p:cNvSpPr>
          <p:nvPr>
            <p:ph type="title"/>
          </p:nvPr>
        </p:nvSpPr>
        <p:spPr>
          <a:xfrm>
            <a:off x="2278252" y="182833"/>
            <a:ext cx="4587496" cy="721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Introduction</a:t>
            </a:r>
            <a:endParaRPr sz="4400" dirty="0"/>
          </a:p>
        </p:txBody>
      </p:sp>
      <p:sp>
        <p:nvSpPr>
          <p:cNvPr id="393" name="Google Shape;393;p30"/>
          <p:cNvSpPr txBox="1">
            <a:spLocks noGrp="1"/>
          </p:cNvSpPr>
          <p:nvPr>
            <p:ph type="subTitle" idx="1"/>
          </p:nvPr>
        </p:nvSpPr>
        <p:spPr>
          <a:xfrm>
            <a:off x="5549302" y="1665543"/>
            <a:ext cx="3386778" cy="721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To create a casual and immersive VR experience that emphasizes simplicity and fun.</a:t>
            </a:r>
            <a:endParaRPr sz="1400" dirty="0"/>
          </a:p>
        </p:txBody>
      </p:sp>
      <p:sp>
        <p:nvSpPr>
          <p:cNvPr id="394" name="Google Shape;394;p30"/>
          <p:cNvSpPr txBox="1">
            <a:spLocks noGrp="1"/>
          </p:cNvSpPr>
          <p:nvPr>
            <p:ph type="subTitle" idx="2"/>
          </p:nvPr>
        </p:nvSpPr>
        <p:spPr>
          <a:xfrm>
            <a:off x="1185222" y="1758065"/>
            <a:ext cx="3386778" cy="721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BasketVR Toss is a VR game where players grab and throw basketballs into a hoop in a relaxing, stress-free environment.</a:t>
            </a:r>
            <a:endParaRPr sz="1400" dirty="0"/>
          </a:p>
        </p:txBody>
      </p:sp>
      <p:sp>
        <p:nvSpPr>
          <p:cNvPr id="395" name="Google Shape;395;p30"/>
          <p:cNvSpPr txBox="1">
            <a:spLocks noGrp="1"/>
          </p:cNvSpPr>
          <p:nvPr>
            <p:ph type="subTitle" idx="3"/>
          </p:nvPr>
        </p:nvSpPr>
        <p:spPr>
          <a:xfrm>
            <a:off x="930072" y="1416868"/>
            <a:ext cx="25056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Game Concept</a:t>
            </a:r>
            <a:r>
              <a:rPr lang="en-CA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Google Shape;395;p30">
            <a:extLst>
              <a:ext uri="{FF2B5EF4-FFF2-40B4-BE49-F238E27FC236}">
                <a16:creationId xmlns:a16="http://schemas.microsoft.com/office/drawing/2014/main" id="{0D0FD15A-1B64-EDED-3B50-5122C75A0F09}"/>
              </a:ext>
            </a:extLst>
          </p:cNvPr>
          <p:cNvSpPr txBox="1">
            <a:spLocks/>
          </p:cNvSpPr>
          <p:nvPr/>
        </p:nvSpPr>
        <p:spPr>
          <a:xfrm>
            <a:off x="5221310" y="1416868"/>
            <a:ext cx="25056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drich"/>
              <a:buNone/>
              <a:defRPr sz="24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drich"/>
              <a:buNone/>
              <a:defRPr sz="24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drich"/>
              <a:buNone/>
              <a:defRPr sz="24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drich"/>
              <a:buNone/>
              <a:defRPr sz="24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drich"/>
              <a:buNone/>
              <a:defRPr sz="24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drich"/>
              <a:buNone/>
              <a:defRPr sz="24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drich"/>
              <a:buNone/>
              <a:defRPr sz="24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drich"/>
              <a:buNone/>
              <a:defRPr sz="24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Objective:</a:t>
            </a:r>
            <a:endParaRPr lang="en-CA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video-1">
            <a:hlinkClick r:id="" action="ppaction://media"/>
            <a:extLst>
              <a:ext uri="{FF2B5EF4-FFF2-40B4-BE49-F238E27FC236}">
                <a16:creationId xmlns:a16="http://schemas.microsoft.com/office/drawing/2014/main" id="{D2219CC6-FEC1-4D8E-7F55-100B8703E7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00528" y="2557150"/>
            <a:ext cx="3278768" cy="2112505"/>
          </a:xfrm>
          <a:prstGeom prst="rect">
            <a:avLst/>
          </a:prstGeom>
        </p:spPr>
      </p:pic>
      <p:pic>
        <p:nvPicPr>
          <p:cNvPr id="10" name="Picture 9" descr="A red sign with white text&#10;&#10;Description automatically generated">
            <a:extLst>
              <a:ext uri="{FF2B5EF4-FFF2-40B4-BE49-F238E27FC236}">
                <a16:creationId xmlns:a16="http://schemas.microsoft.com/office/drawing/2014/main" id="{1BE2A132-1925-084C-EDF3-50FFB64FA7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472" y="4400294"/>
            <a:ext cx="857055" cy="269361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C7AC249C-4384-1589-B632-25E9FEA49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15" y="2809646"/>
            <a:ext cx="3235273" cy="15906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70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 txBox="1">
            <a:spLocks noGrp="1"/>
          </p:cNvSpPr>
          <p:nvPr>
            <p:ph type="title"/>
          </p:nvPr>
        </p:nvSpPr>
        <p:spPr>
          <a:xfrm>
            <a:off x="1038199" y="455217"/>
            <a:ext cx="44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Game Design Process</a:t>
            </a:r>
            <a:endParaRPr dirty="0"/>
          </a:p>
        </p:txBody>
      </p:sp>
      <p:pic>
        <p:nvPicPr>
          <p:cNvPr id="372" name="Google Shape;372;p28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6364" r="26364"/>
          <a:stretch/>
        </p:blipFill>
        <p:spPr>
          <a:xfrm>
            <a:off x="5707967" y="334820"/>
            <a:ext cx="2787000" cy="3798000"/>
          </a:xfrm>
          <a:prstGeom prst="snip2DiagRect">
            <a:avLst>
              <a:gd name="adj1" fmla="val 0"/>
              <a:gd name="adj2" fmla="val 16667"/>
            </a:avLst>
          </a:prstGeom>
        </p:spPr>
      </p:pic>
      <p:sp>
        <p:nvSpPr>
          <p:cNvPr id="6" name="Google Shape;394;p30">
            <a:extLst>
              <a:ext uri="{FF2B5EF4-FFF2-40B4-BE49-F238E27FC236}">
                <a16:creationId xmlns:a16="http://schemas.microsoft.com/office/drawing/2014/main" id="{2A69AC28-9325-B149-423D-2A1D1A80B697}"/>
              </a:ext>
            </a:extLst>
          </p:cNvPr>
          <p:cNvSpPr txBox="1">
            <a:spLocks/>
          </p:cNvSpPr>
          <p:nvPr/>
        </p:nvSpPr>
        <p:spPr>
          <a:xfrm>
            <a:off x="1038199" y="1496696"/>
            <a:ext cx="3961820" cy="2120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 rtl="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b="1" dirty="0">
                <a:solidFill>
                  <a:srgbClr val="00B0F0"/>
                </a:solidFill>
                <a:latin typeface="Actor" panose="020B0604020202020204" charset="0"/>
              </a:rPr>
              <a:t>Interaction:</a:t>
            </a:r>
            <a:r>
              <a:rPr lang="en-US" sz="1600" b="1" dirty="0">
                <a:solidFill>
                  <a:srgbClr val="00B0F0"/>
                </a:solidFill>
                <a:latin typeface="Actor" panose="020B060402020202020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Grabbable basketballs with realistic throwing physics.</a:t>
            </a:r>
          </a:p>
          <a:p>
            <a:pPr marL="342900" indent="-342900" algn="l" rtl="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b="1" dirty="0">
                <a:solidFill>
                  <a:srgbClr val="00B0F0"/>
                </a:solidFill>
                <a:latin typeface="Actor" panose="020B0604020202020204" charset="0"/>
              </a:rPr>
              <a:t>Feedback:</a:t>
            </a:r>
            <a:r>
              <a:rPr lang="en-US" sz="1600" b="1" dirty="0">
                <a:solidFill>
                  <a:srgbClr val="00B0F0"/>
                </a:solidFill>
                <a:latin typeface="Actor" panose="020B060402020202020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Positive audio and visual cues for scoring baskets.</a:t>
            </a:r>
          </a:p>
          <a:p>
            <a:pPr marL="342900" indent="-342900" algn="l" rtl="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b="1" dirty="0">
                <a:solidFill>
                  <a:srgbClr val="00B0F0"/>
                </a:solidFill>
                <a:latin typeface="Actor" panose="020B0604020202020204" charset="0"/>
              </a:rPr>
              <a:t>Environment: </a:t>
            </a: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A minimalistic and relaxing basketball court.</a:t>
            </a:r>
          </a:p>
        </p:txBody>
      </p:sp>
      <p:sp>
        <p:nvSpPr>
          <p:cNvPr id="9" name="Google Shape;395;p30">
            <a:extLst>
              <a:ext uri="{FF2B5EF4-FFF2-40B4-BE49-F238E27FC236}">
                <a16:creationId xmlns:a16="http://schemas.microsoft.com/office/drawing/2014/main" id="{76B59E6E-B50A-565D-B1B4-7C656F112939}"/>
              </a:ext>
            </a:extLst>
          </p:cNvPr>
          <p:cNvSpPr txBox="1">
            <a:spLocks/>
          </p:cNvSpPr>
          <p:nvPr/>
        </p:nvSpPr>
        <p:spPr>
          <a:xfrm>
            <a:off x="716184" y="1303123"/>
            <a:ext cx="25056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Game Concept</a:t>
            </a:r>
            <a:r>
              <a:rPr lang="en-CA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:</a:t>
            </a:r>
          </a:p>
        </p:txBody>
      </p:sp>
      <p:sp>
        <p:nvSpPr>
          <p:cNvPr id="11" name="Google Shape;395;p30">
            <a:extLst>
              <a:ext uri="{FF2B5EF4-FFF2-40B4-BE49-F238E27FC236}">
                <a16:creationId xmlns:a16="http://schemas.microsoft.com/office/drawing/2014/main" id="{26387BFB-1B23-9063-E47E-2CE8D2624A71}"/>
              </a:ext>
            </a:extLst>
          </p:cNvPr>
          <p:cNvSpPr txBox="1">
            <a:spLocks/>
          </p:cNvSpPr>
          <p:nvPr/>
        </p:nvSpPr>
        <p:spPr>
          <a:xfrm>
            <a:off x="716184" y="3896301"/>
            <a:ext cx="176189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Core Loop:</a:t>
            </a:r>
            <a:endParaRPr lang="en-CA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12" name="Google Shape;394;p30">
            <a:extLst>
              <a:ext uri="{FF2B5EF4-FFF2-40B4-BE49-F238E27FC236}">
                <a16:creationId xmlns:a16="http://schemas.microsoft.com/office/drawing/2014/main" id="{858DC4EE-2A85-47CC-6058-A2D0F79B150D}"/>
              </a:ext>
            </a:extLst>
          </p:cNvPr>
          <p:cNvSpPr txBox="1">
            <a:spLocks/>
          </p:cNvSpPr>
          <p:nvPr/>
        </p:nvSpPr>
        <p:spPr>
          <a:xfrm>
            <a:off x="2140105" y="3728928"/>
            <a:ext cx="4695594" cy="80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 rtl="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Grab a basketball, aim for the hoop and toss it.</a:t>
            </a:r>
          </a:p>
          <a:p>
            <a:pPr marL="342900" indent="-342900" algn="l" rtl="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 Positive feedback encourages continued 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8E210261-FEE4-865B-8355-AFFD027E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>
            <a:extLst>
              <a:ext uri="{FF2B5EF4-FFF2-40B4-BE49-F238E27FC236}">
                <a16:creationId xmlns:a16="http://schemas.microsoft.com/office/drawing/2014/main" id="{E0490EAA-C1C1-475A-9C16-33B00C082B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4501" y="265908"/>
            <a:ext cx="4171534" cy="6793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Development: </a:t>
            </a: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9" name="Google Shape;395;p30">
            <a:extLst>
              <a:ext uri="{FF2B5EF4-FFF2-40B4-BE49-F238E27FC236}">
                <a16:creationId xmlns:a16="http://schemas.microsoft.com/office/drawing/2014/main" id="{CD40EC24-CF62-C9B6-CC6D-6F500F496723}"/>
              </a:ext>
            </a:extLst>
          </p:cNvPr>
          <p:cNvSpPr txBox="1">
            <a:spLocks/>
          </p:cNvSpPr>
          <p:nvPr/>
        </p:nvSpPr>
        <p:spPr>
          <a:xfrm>
            <a:off x="527341" y="1185399"/>
            <a:ext cx="3398616" cy="50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sz="1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Environment Goals:</a:t>
            </a:r>
            <a:endParaRPr lang="en-CA" sz="18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12" name="Google Shape;394;p30">
            <a:extLst>
              <a:ext uri="{FF2B5EF4-FFF2-40B4-BE49-F238E27FC236}">
                <a16:creationId xmlns:a16="http://schemas.microsoft.com/office/drawing/2014/main" id="{D91FA511-4982-5BDA-E9EB-107C926DE22A}"/>
              </a:ext>
            </a:extLst>
          </p:cNvPr>
          <p:cNvSpPr txBox="1">
            <a:spLocks/>
          </p:cNvSpPr>
          <p:nvPr/>
        </p:nvSpPr>
        <p:spPr>
          <a:xfrm>
            <a:off x="850441" y="1590295"/>
            <a:ext cx="3950159" cy="67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>
              <a:lnSpc>
                <a:spcPct val="150000"/>
              </a:lnSpc>
              <a:buClrTx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Create a relaxing basketball court with interactive elements</a:t>
            </a:r>
          </a:p>
        </p:txBody>
      </p:sp>
      <p:sp>
        <p:nvSpPr>
          <p:cNvPr id="10" name="Google Shape;395;p30">
            <a:extLst>
              <a:ext uri="{FF2B5EF4-FFF2-40B4-BE49-F238E27FC236}">
                <a16:creationId xmlns:a16="http://schemas.microsoft.com/office/drawing/2014/main" id="{5CDA1A7A-38BD-75AE-4EB9-B4BAF2153595}"/>
              </a:ext>
            </a:extLst>
          </p:cNvPr>
          <p:cNvSpPr txBox="1">
            <a:spLocks/>
          </p:cNvSpPr>
          <p:nvPr/>
        </p:nvSpPr>
        <p:spPr>
          <a:xfrm>
            <a:off x="4144617" y="353358"/>
            <a:ext cx="2623930" cy="50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tx2"/>
              </a:buClr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drich"/>
                <a:sym typeface="Aldrich"/>
              </a:rPr>
              <a:t>Environment Design</a:t>
            </a:r>
            <a:endParaRPr lang="en-CA" sz="1800" dirty="0">
              <a:solidFill>
                <a:srgbClr val="FFFF00"/>
              </a:solidFill>
              <a:latin typeface="Aldrich" panose="020B0604020202020204" charset="0"/>
            </a:endParaRPr>
          </a:p>
        </p:txBody>
      </p:sp>
      <p:sp>
        <p:nvSpPr>
          <p:cNvPr id="13" name="Google Shape;395;p30">
            <a:extLst>
              <a:ext uri="{FF2B5EF4-FFF2-40B4-BE49-F238E27FC236}">
                <a16:creationId xmlns:a16="http://schemas.microsoft.com/office/drawing/2014/main" id="{9A7C9FF2-E4A0-AB40-D96E-90637C97D1D6}"/>
              </a:ext>
            </a:extLst>
          </p:cNvPr>
          <p:cNvSpPr txBox="1">
            <a:spLocks/>
          </p:cNvSpPr>
          <p:nvPr/>
        </p:nvSpPr>
        <p:spPr>
          <a:xfrm>
            <a:off x="850441" y="2557574"/>
            <a:ext cx="2161116" cy="50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sz="1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Key Features:</a:t>
            </a:r>
            <a:endParaRPr lang="en-CA" sz="18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14" name="Google Shape;394;p30">
            <a:extLst>
              <a:ext uri="{FF2B5EF4-FFF2-40B4-BE49-F238E27FC236}">
                <a16:creationId xmlns:a16="http://schemas.microsoft.com/office/drawing/2014/main" id="{4F1F0FC7-0132-880F-08E3-D7C81E5DB808}"/>
              </a:ext>
            </a:extLst>
          </p:cNvPr>
          <p:cNvSpPr txBox="1">
            <a:spLocks/>
          </p:cNvSpPr>
          <p:nvPr/>
        </p:nvSpPr>
        <p:spPr>
          <a:xfrm>
            <a:off x="953145" y="2959370"/>
            <a:ext cx="5914794" cy="1294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 rtl="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Solid floor and props like chairs and tables, trees, benches and a car.</a:t>
            </a:r>
          </a:p>
          <a:p>
            <a:pPr marL="342900" indent="-342900" algn="l" rtl="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Minimal distractions to maintain focus on gameplay.</a:t>
            </a:r>
          </a:p>
          <a:p>
            <a:pPr marL="342900" indent="-342900" algn="l" rtl="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Soft lighting for a calming aesthetic.</a:t>
            </a:r>
          </a:p>
        </p:txBody>
      </p:sp>
      <p:pic>
        <p:nvPicPr>
          <p:cNvPr id="16" name="Picture 15" descr="A computer screen shot of a car&#10;&#10;Description automatically generated">
            <a:extLst>
              <a:ext uri="{FF2B5EF4-FFF2-40B4-BE49-F238E27FC236}">
                <a16:creationId xmlns:a16="http://schemas.microsoft.com/office/drawing/2014/main" id="{32D54939-D32A-AEEA-0942-B0347AE84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836" y="1185399"/>
            <a:ext cx="3820294" cy="17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74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10279B2C-232C-78E4-7FFB-2F3F2AE7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>
            <a:extLst>
              <a:ext uri="{FF2B5EF4-FFF2-40B4-BE49-F238E27FC236}">
                <a16:creationId xmlns:a16="http://schemas.microsoft.com/office/drawing/2014/main" id="{DDCEFC03-A476-3B33-5926-6F2B86E33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353" y="178457"/>
            <a:ext cx="4171534" cy="6793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Development: </a:t>
            </a: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9" name="Google Shape;395;p30">
            <a:extLst>
              <a:ext uri="{FF2B5EF4-FFF2-40B4-BE49-F238E27FC236}">
                <a16:creationId xmlns:a16="http://schemas.microsoft.com/office/drawing/2014/main" id="{4AE506F2-CB50-8935-F22B-F296F6C73B99}"/>
              </a:ext>
            </a:extLst>
          </p:cNvPr>
          <p:cNvSpPr txBox="1">
            <a:spLocks/>
          </p:cNvSpPr>
          <p:nvPr/>
        </p:nvSpPr>
        <p:spPr>
          <a:xfrm>
            <a:off x="263499" y="813376"/>
            <a:ext cx="2305311" cy="50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sz="1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Key Mechanics:</a:t>
            </a:r>
            <a:endParaRPr lang="en-CA" sz="18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10" name="Google Shape;395;p30">
            <a:extLst>
              <a:ext uri="{FF2B5EF4-FFF2-40B4-BE49-F238E27FC236}">
                <a16:creationId xmlns:a16="http://schemas.microsoft.com/office/drawing/2014/main" id="{494D033F-FE3D-AA84-86E1-927C9B719053}"/>
              </a:ext>
            </a:extLst>
          </p:cNvPr>
          <p:cNvSpPr txBox="1">
            <a:spLocks/>
          </p:cNvSpPr>
          <p:nvPr/>
        </p:nvSpPr>
        <p:spPr>
          <a:xfrm>
            <a:off x="3975652" y="265907"/>
            <a:ext cx="3319670" cy="50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tx2"/>
              </a:buClr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drich"/>
                <a:sym typeface="Aldrich"/>
              </a:rPr>
              <a:t>Mechanics Implementation</a:t>
            </a:r>
            <a:endParaRPr lang="en-CA" sz="1800" dirty="0">
              <a:solidFill>
                <a:srgbClr val="FFFF00"/>
              </a:solidFill>
              <a:latin typeface="Aldrich" panose="020B0604020202020204" charset="0"/>
            </a:endParaRPr>
          </a:p>
        </p:txBody>
      </p:sp>
      <p:sp>
        <p:nvSpPr>
          <p:cNvPr id="14" name="Google Shape;394;p30">
            <a:extLst>
              <a:ext uri="{FF2B5EF4-FFF2-40B4-BE49-F238E27FC236}">
                <a16:creationId xmlns:a16="http://schemas.microsoft.com/office/drawing/2014/main" id="{1447DC54-F7FB-CFB9-A57A-07DBD0E3402B}"/>
              </a:ext>
            </a:extLst>
          </p:cNvPr>
          <p:cNvSpPr txBox="1">
            <a:spLocks/>
          </p:cNvSpPr>
          <p:nvPr/>
        </p:nvSpPr>
        <p:spPr>
          <a:xfrm>
            <a:off x="685033" y="1288451"/>
            <a:ext cx="5239594" cy="320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sz="1200" b="1" dirty="0">
                <a:solidFill>
                  <a:schemeClr val="accent1"/>
                </a:solidFill>
                <a:latin typeface="Actor" panose="020B0604020202020204" charset="0"/>
              </a:rPr>
              <a:t>Grabbable Basketball and chairs:</a:t>
            </a:r>
            <a:r>
              <a:rPr lang="en-US" sz="1200" b="1" dirty="0">
                <a:solidFill>
                  <a:schemeClr val="tx2"/>
                </a:solidFill>
                <a:latin typeface="Actor" panose="020B060402020202020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Players can pick up basketball and chairs using VR</a:t>
            </a:r>
          </a:p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sz="1200" b="1" dirty="0">
                <a:solidFill>
                  <a:schemeClr val="accent1"/>
                </a:solidFill>
                <a:latin typeface="Actor" panose="020B0604020202020204" charset="0"/>
              </a:rPr>
              <a:t>Item Placement: </a:t>
            </a:r>
          </a:p>
          <a:p>
            <a:pPr marL="548640" indent="-342900" algn="l" rtl="0">
              <a:lnSpc>
                <a:spcPct val="150000"/>
              </a:lnSpc>
              <a:spcAft>
                <a:spcPts val="600"/>
              </a:spcAft>
              <a:buClrTx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Players can place basketball on a table or in a box for organizing within the playground.</a:t>
            </a:r>
          </a:p>
          <a:p>
            <a:pPr marL="548640" indent="-342900" algn="l" rtl="0">
              <a:lnSpc>
                <a:spcPct val="150000"/>
              </a:lnSpc>
              <a:spcAft>
                <a:spcPts val="600"/>
              </a:spcAft>
              <a:buClrTx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Sockets enable smooth and intuitive placement of basketballs on the table or in the box, adding interactivity and personalization to the environment.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 startAt="3"/>
            </a:pPr>
            <a:r>
              <a:rPr lang="en-US" sz="1200" b="1" dirty="0">
                <a:solidFill>
                  <a:schemeClr val="accent1"/>
                </a:solidFill>
                <a:latin typeface="Actor" panose="020B0604020202020204" charset="0"/>
              </a:rPr>
              <a:t>Realistic Throwing Physics:</a:t>
            </a:r>
            <a:r>
              <a:rPr lang="en-US" sz="1200" b="1" dirty="0">
                <a:solidFill>
                  <a:schemeClr val="tx2"/>
                </a:solidFill>
                <a:latin typeface="Actor" panose="020B060402020202020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Physics-based interactions for natural throws.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 startAt="3"/>
            </a:pPr>
            <a:r>
              <a:rPr lang="en-US" sz="1200" b="1" dirty="0">
                <a:solidFill>
                  <a:schemeClr val="accent1"/>
                </a:solidFill>
                <a:latin typeface="Actor" panose="020B0604020202020204" charset="0"/>
              </a:rPr>
              <a:t>Scoring System:</a:t>
            </a:r>
            <a:r>
              <a:rPr lang="en-US" sz="1200" b="1" dirty="0">
                <a:solidFill>
                  <a:schemeClr val="tx2"/>
                </a:solidFill>
                <a:latin typeface="Actor" panose="020B060402020202020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ctor" panose="020B0604020202020204" charset="0"/>
              </a:rPr>
              <a:t>Triggers detect when the basketball passes through the hoop, updating the score.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76EC2C8-758B-77AA-3ED0-9E32F89B91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816" y="547986"/>
            <a:ext cx="1444686" cy="2347613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ACFD8F2B-C705-BE6F-0089-93F4F6E99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627" y="857844"/>
            <a:ext cx="1209597" cy="1944422"/>
          </a:xfrm>
          <a:prstGeom prst="rect">
            <a:avLst/>
          </a:prstGeom>
        </p:spPr>
      </p:pic>
      <p:pic>
        <p:nvPicPr>
          <p:cNvPr id="15" name="video-3">
            <a:hlinkClick r:id="" action="ppaction://media"/>
            <a:extLst>
              <a:ext uri="{FF2B5EF4-FFF2-40B4-BE49-F238E27FC236}">
                <a16:creationId xmlns:a16="http://schemas.microsoft.com/office/drawing/2014/main" id="{0BAC4F85-40A6-3C2D-E0DD-7E7033E996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924627" y="3068234"/>
            <a:ext cx="2818222" cy="1809359"/>
          </a:xfrm>
          <a:prstGeom prst="rect">
            <a:avLst/>
          </a:prstGeom>
        </p:spPr>
      </p:pic>
      <p:pic>
        <p:nvPicPr>
          <p:cNvPr id="17" name="Picture 16" descr="A red sign with white text&#10;&#10;Description automatically generated">
            <a:extLst>
              <a:ext uri="{FF2B5EF4-FFF2-40B4-BE49-F238E27FC236}">
                <a16:creationId xmlns:a16="http://schemas.microsoft.com/office/drawing/2014/main" id="{249AC2B7-95CB-4BD8-899A-946B249D9A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0" y="4695293"/>
            <a:ext cx="628727" cy="19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1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76FDB45F-358F-2362-8CE7-0A53CD06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>
            <a:extLst>
              <a:ext uri="{FF2B5EF4-FFF2-40B4-BE49-F238E27FC236}">
                <a16:creationId xmlns:a16="http://schemas.microsoft.com/office/drawing/2014/main" id="{39E7DDFF-402E-5A09-944A-DBCDB16BAD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352" y="173472"/>
            <a:ext cx="5602769" cy="6793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Audio and Feedback Design</a:t>
            </a: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9" name="Google Shape;395;p30">
            <a:extLst>
              <a:ext uri="{FF2B5EF4-FFF2-40B4-BE49-F238E27FC236}">
                <a16:creationId xmlns:a16="http://schemas.microsoft.com/office/drawing/2014/main" id="{ECF7A9C8-A75F-580A-E45F-427D43135D9A}"/>
              </a:ext>
            </a:extLst>
          </p:cNvPr>
          <p:cNvSpPr txBox="1">
            <a:spLocks/>
          </p:cNvSpPr>
          <p:nvPr/>
        </p:nvSpPr>
        <p:spPr>
          <a:xfrm>
            <a:off x="458127" y="942547"/>
            <a:ext cx="1265183" cy="3870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Audio:</a:t>
            </a:r>
            <a:endParaRPr lang="en-CA" sz="16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14" name="Google Shape;394;p30">
            <a:extLst>
              <a:ext uri="{FF2B5EF4-FFF2-40B4-BE49-F238E27FC236}">
                <a16:creationId xmlns:a16="http://schemas.microsoft.com/office/drawing/2014/main" id="{C53E0D42-4B63-0AE6-45C1-41711E2EF7F5}"/>
              </a:ext>
            </a:extLst>
          </p:cNvPr>
          <p:cNvSpPr txBox="1">
            <a:spLocks/>
          </p:cNvSpPr>
          <p:nvPr/>
        </p:nvSpPr>
        <p:spPr>
          <a:xfrm>
            <a:off x="774237" y="1182093"/>
            <a:ext cx="4950701" cy="95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Ambient background music creates a calming atmosphere.</a:t>
            </a:r>
          </a:p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Cheerful sound effects play when a basket is scored.</a:t>
            </a:r>
          </a:p>
        </p:txBody>
      </p:sp>
      <p:sp>
        <p:nvSpPr>
          <p:cNvPr id="2" name="Google Shape;395;p30">
            <a:extLst>
              <a:ext uri="{FF2B5EF4-FFF2-40B4-BE49-F238E27FC236}">
                <a16:creationId xmlns:a16="http://schemas.microsoft.com/office/drawing/2014/main" id="{233CDFA7-2391-CE2A-8308-A71CF3A84C54}"/>
              </a:ext>
            </a:extLst>
          </p:cNvPr>
          <p:cNvSpPr txBox="1">
            <a:spLocks/>
          </p:cNvSpPr>
          <p:nvPr/>
        </p:nvSpPr>
        <p:spPr>
          <a:xfrm>
            <a:off x="422211" y="2375231"/>
            <a:ext cx="2216433" cy="3870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Visual Feedback:</a:t>
            </a:r>
            <a:endParaRPr lang="en-CA" sz="16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4" name="Google Shape;394;p30">
            <a:extLst>
              <a:ext uri="{FF2B5EF4-FFF2-40B4-BE49-F238E27FC236}">
                <a16:creationId xmlns:a16="http://schemas.microsoft.com/office/drawing/2014/main" id="{016DFB9D-72FC-96D3-13FC-7B3EB4385D25}"/>
              </a:ext>
            </a:extLst>
          </p:cNvPr>
          <p:cNvSpPr txBox="1">
            <a:spLocks/>
          </p:cNvSpPr>
          <p:nvPr/>
        </p:nvSpPr>
        <p:spPr>
          <a:xfrm>
            <a:off x="1090718" y="2637575"/>
            <a:ext cx="3902707" cy="522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>
              <a:lnSpc>
                <a:spcPct val="150000"/>
              </a:lnSpc>
              <a:spcAft>
                <a:spcPts val="600"/>
              </a:spcAft>
              <a:buClrTx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A world-space UI updates the score dynamically.</a:t>
            </a:r>
          </a:p>
        </p:txBody>
      </p:sp>
      <p:pic>
        <p:nvPicPr>
          <p:cNvPr id="13" name="Picture 12" descr="A screenshot of a music editor&#10;&#10;Description automatically generated">
            <a:extLst>
              <a:ext uri="{FF2B5EF4-FFF2-40B4-BE49-F238E27FC236}">
                <a16:creationId xmlns:a16="http://schemas.microsoft.com/office/drawing/2014/main" id="{CFB1C2E5-8BA5-2FA4-8CB2-C431410D2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227" y="972143"/>
            <a:ext cx="1381029" cy="2039427"/>
          </a:xfrm>
          <a:prstGeom prst="rect">
            <a:avLst/>
          </a:prstGeom>
        </p:spPr>
      </p:pic>
      <p:pic>
        <p:nvPicPr>
          <p:cNvPr id="16" name="Picture 15" descr="A screenshot of a music player&#10;&#10;Description automatically generated">
            <a:extLst>
              <a:ext uri="{FF2B5EF4-FFF2-40B4-BE49-F238E27FC236}">
                <a16:creationId xmlns:a16="http://schemas.microsoft.com/office/drawing/2014/main" id="{AE87D239-307C-C4C4-C2FD-4F50F11B7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227" y="3201527"/>
            <a:ext cx="1438765" cy="1654865"/>
          </a:xfrm>
          <a:prstGeom prst="rect">
            <a:avLst/>
          </a:prstGeom>
        </p:spPr>
      </p:pic>
      <p:pic>
        <p:nvPicPr>
          <p:cNvPr id="17" name="video-4">
            <a:hlinkClick r:id="" action="ppaction://media"/>
            <a:extLst>
              <a:ext uri="{FF2B5EF4-FFF2-40B4-BE49-F238E27FC236}">
                <a16:creationId xmlns:a16="http://schemas.microsoft.com/office/drawing/2014/main" id="{C726D5C4-3F38-0EBC-979B-D67F92B455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359531" y="3201527"/>
            <a:ext cx="3727247" cy="1768501"/>
          </a:xfrm>
          <a:prstGeom prst="rect">
            <a:avLst/>
          </a:prstGeom>
        </p:spPr>
      </p:pic>
      <p:pic>
        <p:nvPicPr>
          <p:cNvPr id="18" name="Picture 17" descr="A red sign with white text&#10;&#10;Description automatically generated">
            <a:extLst>
              <a:ext uri="{FF2B5EF4-FFF2-40B4-BE49-F238E27FC236}">
                <a16:creationId xmlns:a16="http://schemas.microsoft.com/office/drawing/2014/main" id="{0B51A9A2-680D-1B06-FBBA-7262D1AC77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707" y="4757591"/>
            <a:ext cx="628727" cy="19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2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F3D268BF-0DCF-5562-0BB1-5A7412131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>
            <a:extLst>
              <a:ext uri="{FF2B5EF4-FFF2-40B4-BE49-F238E27FC236}">
                <a16:creationId xmlns:a16="http://schemas.microsoft.com/office/drawing/2014/main" id="{F685CD49-A863-631E-22AD-260FB0577D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353" y="173472"/>
            <a:ext cx="4950702" cy="6793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Challenges Encountered</a:t>
            </a: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9" name="Google Shape;395;p30">
            <a:extLst>
              <a:ext uri="{FF2B5EF4-FFF2-40B4-BE49-F238E27FC236}">
                <a16:creationId xmlns:a16="http://schemas.microsoft.com/office/drawing/2014/main" id="{322113AC-1F99-0570-B897-FFED342D51D1}"/>
              </a:ext>
            </a:extLst>
          </p:cNvPr>
          <p:cNvSpPr txBox="1">
            <a:spLocks/>
          </p:cNvSpPr>
          <p:nvPr/>
        </p:nvSpPr>
        <p:spPr>
          <a:xfrm>
            <a:off x="458127" y="942547"/>
            <a:ext cx="2434160" cy="3870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Major Challenges:</a:t>
            </a:r>
            <a:endParaRPr lang="en-CA" sz="16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14" name="Google Shape;394;p30">
            <a:extLst>
              <a:ext uri="{FF2B5EF4-FFF2-40B4-BE49-F238E27FC236}">
                <a16:creationId xmlns:a16="http://schemas.microsoft.com/office/drawing/2014/main" id="{30D69AA2-9340-C39D-D686-589303639040}"/>
              </a:ext>
            </a:extLst>
          </p:cNvPr>
          <p:cNvSpPr txBox="1">
            <a:spLocks/>
          </p:cNvSpPr>
          <p:nvPr/>
        </p:nvSpPr>
        <p:spPr>
          <a:xfrm>
            <a:off x="753268" y="1204203"/>
            <a:ext cx="5616624" cy="163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Fine-tuning physics for consistent throwing mechanics.</a:t>
            </a:r>
          </a:p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Ensuring the trigger collider on the hoop reliably detected fast throws.</a:t>
            </a:r>
          </a:p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Integrating a responsive UI for score tracking.</a:t>
            </a:r>
          </a:p>
        </p:txBody>
      </p:sp>
      <p:sp>
        <p:nvSpPr>
          <p:cNvPr id="2" name="Google Shape;395;p30">
            <a:extLst>
              <a:ext uri="{FF2B5EF4-FFF2-40B4-BE49-F238E27FC236}">
                <a16:creationId xmlns:a16="http://schemas.microsoft.com/office/drawing/2014/main" id="{51CA5D3E-A782-B419-C8F9-97F39F5873D5}"/>
              </a:ext>
            </a:extLst>
          </p:cNvPr>
          <p:cNvSpPr txBox="1">
            <a:spLocks/>
          </p:cNvSpPr>
          <p:nvPr/>
        </p:nvSpPr>
        <p:spPr>
          <a:xfrm>
            <a:off x="458127" y="3103467"/>
            <a:ext cx="2216433" cy="3870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Solutions:</a:t>
            </a:r>
            <a:endParaRPr lang="en-CA" sz="16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4" name="Google Shape;394;p30">
            <a:extLst>
              <a:ext uri="{FF2B5EF4-FFF2-40B4-BE49-F238E27FC236}">
                <a16:creationId xmlns:a16="http://schemas.microsoft.com/office/drawing/2014/main" id="{E3979736-997D-C30D-DC05-3034D4B6FD69}"/>
              </a:ext>
            </a:extLst>
          </p:cNvPr>
          <p:cNvSpPr txBox="1">
            <a:spLocks/>
          </p:cNvSpPr>
          <p:nvPr/>
        </p:nvSpPr>
        <p:spPr>
          <a:xfrm>
            <a:off x="753268" y="3447317"/>
            <a:ext cx="5935767" cy="983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Adjusted Rigidbody properties and refined trigger zones for accuracy.</a:t>
            </a:r>
          </a:p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Tested multiple UI placements to ensure visibility without distraction.</a:t>
            </a:r>
          </a:p>
        </p:txBody>
      </p:sp>
    </p:spTree>
    <p:extLst>
      <p:ext uri="{BB962C8B-B14F-4D97-AF65-F5344CB8AC3E}">
        <p14:creationId xmlns:p14="http://schemas.microsoft.com/office/powerpoint/2010/main" val="43092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822BA462-5459-F789-ABE3-63150A9C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>
            <a:extLst>
              <a:ext uri="{FF2B5EF4-FFF2-40B4-BE49-F238E27FC236}">
                <a16:creationId xmlns:a16="http://schemas.microsoft.com/office/drawing/2014/main" id="{A9732ABA-1CDE-0B98-20FA-BC156DA669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353" y="173472"/>
            <a:ext cx="4689197" cy="6793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Notable Achievements</a:t>
            </a: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9" name="Google Shape;395;p30">
            <a:extLst>
              <a:ext uri="{FF2B5EF4-FFF2-40B4-BE49-F238E27FC236}">
                <a16:creationId xmlns:a16="http://schemas.microsoft.com/office/drawing/2014/main" id="{189E7542-8EF6-A8D0-D31D-D1E78C7D2217}"/>
              </a:ext>
            </a:extLst>
          </p:cNvPr>
          <p:cNvSpPr txBox="1">
            <a:spLocks/>
          </p:cNvSpPr>
          <p:nvPr/>
        </p:nvSpPr>
        <p:spPr>
          <a:xfrm>
            <a:off x="477177" y="1113997"/>
            <a:ext cx="2434160" cy="3870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Accomplishments:</a:t>
            </a:r>
            <a:endParaRPr lang="en-CA" sz="16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14" name="Google Shape;394;p30">
            <a:extLst>
              <a:ext uri="{FF2B5EF4-FFF2-40B4-BE49-F238E27FC236}">
                <a16:creationId xmlns:a16="http://schemas.microsoft.com/office/drawing/2014/main" id="{C14E43E1-E151-E2C1-6730-B0F68CF8210F}"/>
              </a:ext>
            </a:extLst>
          </p:cNvPr>
          <p:cNvSpPr txBox="1">
            <a:spLocks/>
          </p:cNvSpPr>
          <p:nvPr/>
        </p:nvSpPr>
        <p:spPr>
          <a:xfrm>
            <a:off x="771639" y="1419312"/>
            <a:ext cx="5616624" cy="163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Created a relaxing and interactive VR environment.</a:t>
            </a:r>
          </a:p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Implemented intuitive grab-and-throw mechanics.</a:t>
            </a:r>
          </a:p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Added chair interactivity for enhanced immersion.</a:t>
            </a:r>
          </a:p>
          <a:p>
            <a:pPr marL="342900" indent="-342900" algn="l" rtl="0">
              <a:lnSpc>
                <a:spcPct val="150000"/>
              </a:lnSpc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ctor" panose="020B0604020202020204" charset="0"/>
              </a:rPr>
              <a:t>Integrated scoring feedback for a rewarding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2969459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E32D5CF5-2113-A4A1-3184-0E8B6665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>
            <a:extLst>
              <a:ext uri="{FF2B5EF4-FFF2-40B4-BE49-F238E27FC236}">
                <a16:creationId xmlns:a16="http://schemas.microsoft.com/office/drawing/2014/main" id="{049761E2-D593-CD18-3A69-02681D2D74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353" y="173472"/>
            <a:ext cx="2434161" cy="6793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Conclusion</a:t>
            </a: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9" name="Google Shape;395;p30">
            <a:extLst>
              <a:ext uri="{FF2B5EF4-FFF2-40B4-BE49-F238E27FC236}">
                <a16:creationId xmlns:a16="http://schemas.microsoft.com/office/drawing/2014/main" id="{1D964C6B-19F0-F08E-746C-29C55314257A}"/>
              </a:ext>
            </a:extLst>
          </p:cNvPr>
          <p:cNvSpPr txBox="1">
            <a:spLocks/>
          </p:cNvSpPr>
          <p:nvPr/>
        </p:nvSpPr>
        <p:spPr>
          <a:xfrm>
            <a:off x="620052" y="1252420"/>
            <a:ext cx="6466548" cy="10824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Summary: 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ctor" panose="020B0604020202020204" charset="0"/>
                <a:cs typeface="Arial"/>
                <a:sym typeface="Arial"/>
              </a:rPr>
              <a:t>BasketVR Toss delivers a relaxing, immersive VR experience that focuses on fun and simplicity.</a:t>
            </a:r>
          </a:p>
          <a:p>
            <a:pPr>
              <a:buClr>
                <a:schemeClr val="tx2"/>
              </a:buClr>
            </a:pPr>
            <a:endParaRPr lang="en-CA" sz="16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  <p:sp>
        <p:nvSpPr>
          <p:cNvPr id="6" name="Google Shape;395;p30">
            <a:extLst>
              <a:ext uri="{FF2B5EF4-FFF2-40B4-BE49-F238E27FC236}">
                <a16:creationId xmlns:a16="http://schemas.microsoft.com/office/drawing/2014/main" id="{C2891687-C249-FE3A-8909-DB3996AAF6B8}"/>
              </a:ext>
            </a:extLst>
          </p:cNvPr>
          <p:cNvSpPr txBox="1">
            <a:spLocks/>
          </p:cNvSpPr>
          <p:nvPr/>
        </p:nvSpPr>
        <p:spPr>
          <a:xfrm>
            <a:off x="620052" y="2334866"/>
            <a:ext cx="7104723" cy="10824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lang="en-CA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drich" panose="020B0604020202020204" charset="0"/>
              </a:rPr>
              <a:t>Key Takeaways: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ctor" panose="020B0604020202020204" charset="0"/>
                <a:cs typeface="Arial"/>
                <a:sym typeface="Arial"/>
              </a:rPr>
              <a:t>This project allowed me to refine my skills in VR development, physics-based interactions, and player-centric design.</a:t>
            </a:r>
            <a:endParaRPr lang="en-CA" sz="1600" dirty="0">
              <a:solidFill>
                <a:schemeClr val="tx2">
                  <a:lumMod val="40000"/>
                  <a:lumOff val="60000"/>
                </a:schemeClr>
              </a:solidFill>
              <a:latin typeface="Aldrich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6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C9FB6D48-D97C-5BA2-BE5E-6C0E562C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73;p44">
            <a:extLst>
              <a:ext uri="{FF2B5EF4-FFF2-40B4-BE49-F238E27FC236}">
                <a16:creationId xmlns:a16="http://schemas.microsoft.com/office/drawing/2014/main" id="{4B459110-7AD3-EEC6-6FB7-5E55BEB50A85}"/>
              </a:ext>
            </a:extLst>
          </p:cNvPr>
          <p:cNvSpPr txBox="1">
            <a:spLocks/>
          </p:cNvSpPr>
          <p:nvPr/>
        </p:nvSpPr>
        <p:spPr>
          <a:xfrm>
            <a:off x="2359449" y="745434"/>
            <a:ext cx="4425101" cy="67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en-CA" sz="60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429104142"/>
      </p:ext>
    </p:extLst>
  </p:cSld>
  <p:clrMapOvr>
    <a:masterClrMapping/>
  </p:clrMapOvr>
</p:sld>
</file>

<file path=ppt/theme/theme1.xml><?xml version="1.0" encoding="utf-8"?>
<a:theme xmlns:a="http://schemas.openxmlformats.org/drawingml/2006/main" name="Game Design Pitch Deck by Slidesgo">
  <a:themeElements>
    <a:clrScheme name="Simple Light">
      <a:dk1>
        <a:srgbClr val="FFFFFF"/>
      </a:dk1>
      <a:lt1>
        <a:srgbClr val="1C2E53"/>
      </a:lt1>
      <a:dk2>
        <a:srgbClr val="23459F"/>
      </a:dk2>
      <a:lt2>
        <a:srgbClr val="00F3FF"/>
      </a:lt2>
      <a:accent1>
        <a:srgbClr val="6E57E4"/>
      </a:accent1>
      <a:accent2>
        <a:srgbClr val="9F2F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426</Words>
  <Application>Microsoft Office PowerPoint</Application>
  <PresentationFormat>On-screen Show (16:9)</PresentationFormat>
  <Paragraphs>59</Paragraphs>
  <Slides>10</Slides>
  <Notes>10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Actor</vt:lpstr>
      <vt:lpstr>Calibri</vt:lpstr>
      <vt:lpstr>Wingdings</vt:lpstr>
      <vt:lpstr>Arial</vt:lpstr>
      <vt:lpstr>Nunito Light</vt:lpstr>
      <vt:lpstr>Aldrich</vt:lpstr>
      <vt:lpstr>Game Design Pitch Deck by Slidesgo</vt:lpstr>
      <vt:lpstr>BasketVR Toss</vt:lpstr>
      <vt:lpstr>Introduction</vt:lpstr>
      <vt:lpstr>Game Design Process</vt:lpstr>
      <vt:lpstr>Development: </vt:lpstr>
      <vt:lpstr>Development: </vt:lpstr>
      <vt:lpstr>Audio and Feedback Design</vt:lpstr>
      <vt:lpstr>Challenges Encountered</vt:lpstr>
      <vt:lpstr>Notable Achievements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MuXi</dc:creator>
  <cp:lastModifiedBy>Pouria Abtahi</cp:lastModifiedBy>
  <cp:revision>133</cp:revision>
  <dcterms:modified xsi:type="dcterms:W3CDTF">2026-05-03T21:55:19Z</dcterms:modified>
</cp:coreProperties>
</file>